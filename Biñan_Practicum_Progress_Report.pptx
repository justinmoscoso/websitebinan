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0D9488"/>
          </a:solidFill>
          <a:ln/>
        </p:spPr>
      </p:sp>
      <p:sp>
        <p:nvSpPr>
          <p:cNvPr id="3" name="Text 1"/>
          <p:cNvSpPr/>
          <p:nvPr/>
        </p:nvSpPr>
        <p:spPr>
          <a:xfrm>
            <a:off x="1097280" y="2011680"/>
            <a:ext cx="9144000" cy="274320"/>
          </a:xfrm>
          <a:prstGeom prst="rect">
            <a:avLst/>
          </a:prstGeom>
          <a:noFill/>
          <a:ln/>
        </p:spPr>
        <p:txBody>
          <a:bodyPr wrap="square" rtlCol="0" anchor="ctr"/>
          <a:lstStyle/>
          <a:p>
            <a:pPr indent="0" marL="0">
              <a:buNone/>
            </a:pPr>
            <a:r>
              <a:rPr lang="en-US" sz="1200" b="1" dirty="0">
                <a:solidFill>
                  <a:srgbClr val="0D9488"/>
                </a:solidFill>
                <a:latin typeface="Arial" pitchFamily="34" charset="0"/>
                <a:ea typeface="Arial" pitchFamily="34" charset="-122"/>
                <a:cs typeface="Arial" pitchFamily="34" charset="-120"/>
              </a:rPr>
              <a:t>PRACTICUM PROGRESS REPORT</a:t>
            </a:r>
            <a:endParaRPr lang="en-US" sz="1200" dirty="0"/>
          </a:p>
        </p:txBody>
      </p:sp>
      <p:sp>
        <p:nvSpPr>
          <p:cNvPr id="4" name="Text 2"/>
          <p:cNvSpPr/>
          <p:nvPr/>
        </p:nvSpPr>
        <p:spPr>
          <a:xfrm>
            <a:off x="1097280" y="2377440"/>
            <a:ext cx="10058400" cy="1280160"/>
          </a:xfrm>
          <a:prstGeom prst="rect">
            <a:avLst/>
          </a:prstGeom>
          <a:noFill/>
          <a:ln/>
        </p:spPr>
        <p:txBody>
          <a:bodyPr wrap="square"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Web Development &amp; Content Management Enhancement</a:t>
            </a:r>
            <a:endParaRPr lang="en-US" sz="3800" dirty="0"/>
          </a:p>
        </p:txBody>
      </p:sp>
      <p:sp>
        <p:nvSpPr>
          <p:cNvPr id="5" name="Text 3"/>
          <p:cNvSpPr/>
          <p:nvPr/>
        </p:nvSpPr>
        <p:spPr>
          <a:xfrm>
            <a:off x="1097280" y="3749040"/>
            <a:ext cx="9144000" cy="457200"/>
          </a:xfrm>
          <a:prstGeom prst="rect">
            <a:avLst/>
          </a:prstGeom>
          <a:noFill/>
          <a:ln/>
        </p:spPr>
        <p:txBody>
          <a:bodyPr wrap="square" rtlCol="0" anchor="ctr"/>
          <a:lstStyle/>
          <a:p>
            <a:pPr indent="0" marL="0">
              <a:buNone/>
            </a:pPr>
            <a:r>
              <a:rPr lang="en-US" sz="1800" dirty="0">
                <a:solidFill>
                  <a:srgbClr val="64748B"/>
                </a:solidFill>
                <a:latin typeface="Arial" pitchFamily="34" charset="0"/>
                <a:ea typeface="Arial" pitchFamily="34" charset="-122"/>
                <a:cs typeface="Arial" pitchFamily="34" charset="-120"/>
              </a:rPr>
              <a:t>Practicum Project: "Website Biñan" Portal Infrastructure</a:t>
            </a:r>
            <a:endParaRPr lang="en-US" sz="1800" dirty="0"/>
          </a:p>
        </p:txBody>
      </p:sp>
      <p:sp>
        <p:nvSpPr>
          <p:cNvPr id="6" name="Text 4"/>
          <p:cNvSpPr/>
          <p:nvPr/>
        </p:nvSpPr>
        <p:spPr>
          <a:xfrm>
            <a:off x="1097280" y="4937760"/>
            <a:ext cx="5486400" cy="274320"/>
          </a:xfrm>
          <a:prstGeom prst="rect">
            <a:avLst/>
          </a:prstGeom>
          <a:noFill/>
          <a:ln/>
        </p:spPr>
        <p:txBody>
          <a:bodyPr wrap="square" rtlCol="0" anchor="ctr"/>
          <a:lstStyle/>
          <a:p>
            <a:pPr indent="0" marL="0">
              <a:buNone/>
            </a:pPr>
            <a:r>
              <a:rPr lang="en-US" sz="1000" b="1" dirty="0">
                <a:solidFill>
                  <a:srgbClr val="0D9488"/>
                </a:solidFill>
                <a:latin typeface="Arial" pitchFamily="34" charset="0"/>
                <a:ea typeface="Arial" pitchFamily="34" charset="-122"/>
                <a:cs typeface="Arial" pitchFamily="34" charset="-120"/>
              </a:rPr>
              <a:t>STUDENT PROGRESS PRESENTATION</a:t>
            </a:r>
            <a:endParaRPr lang="en-US" sz="1000" dirty="0"/>
          </a:p>
        </p:txBody>
      </p:sp>
      <p:sp>
        <p:nvSpPr>
          <p:cNvPr id="7" name="Text 5"/>
          <p:cNvSpPr/>
          <p:nvPr/>
        </p:nvSpPr>
        <p:spPr>
          <a:xfrm>
            <a:off x="1097280" y="5212080"/>
            <a:ext cx="9144000" cy="73152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Host Institution: City Government of Biñan, Laguna</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Focus: Role Access Leveling, Mobile Utility Integration, and Asset Performance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57200"/>
            <a:ext cx="10725912" cy="274320"/>
          </a:xfrm>
          <a:prstGeom prst="rect">
            <a:avLst/>
          </a:prstGeom>
          <a:noFill/>
          <a:ln/>
        </p:spPr>
        <p:txBody>
          <a:bodyPr wrap="square" rtlCol="0" anchor="ctr"/>
          <a:lstStyle/>
          <a:p>
            <a:pPr indent="0" marL="0">
              <a:buNone/>
            </a:pPr>
            <a:r>
              <a:rPr lang="en-US" sz="1000" b="1" dirty="0">
                <a:solidFill>
                  <a:srgbClr val="0D9488"/>
                </a:solidFill>
                <a:latin typeface="Arial" pitchFamily="34" charset="0"/>
                <a:ea typeface="Arial" pitchFamily="34" charset="-122"/>
                <a:cs typeface="Arial" pitchFamily="34" charset="-120"/>
              </a:rPr>
              <a:t>01 / NATURE OF PRACTICUM</a:t>
            </a:r>
            <a:endParaRPr lang="en-US" sz="1000" dirty="0"/>
          </a:p>
        </p:txBody>
      </p:sp>
      <p:sp>
        <p:nvSpPr>
          <p:cNvPr id="3" name="Text 1"/>
          <p:cNvSpPr/>
          <p:nvPr/>
        </p:nvSpPr>
        <p:spPr>
          <a:xfrm>
            <a:off x="731520" y="731520"/>
            <a:ext cx="10725912" cy="548640"/>
          </a:xfrm>
          <a:prstGeom prst="rect">
            <a:avLst/>
          </a:prstGeom>
          <a:noFill/>
          <a:ln/>
        </p:spPr>
        <p:txBody>
          <a:bodyPr wrap="square"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Biñan Web Portal Infrastructure</a:t>
            </a:r>
            <a:endParaRPr lang="en-US" sz="2600" dirty="0"/>
          </a:p>
        </p:txBody>
      </p:sp>
      <p:sp>
        <p:nvSpPr>
          <p:cNvPr id="4" name="Shape 2"/>
          <p:cNvSpPr/>
          <p:nvPr/>
        </p:nvSpPr>
        <p:spPr>
          <a:xfrm>
            <a:off x="731520" y="1325880"/>
            <a:ext cx="10725912" cy="18288"/>
          </a:xfrm>
          <a:prstGeom prst="rect">
            <a:avLst/>
          </a:prstGeom>
          <a:solidFill>
            <a:srgbClr val="0D9488"/>
          </a:solidFill>
          <a:ln/>
        </p:spPr>
      </p:sp>
      <p:sp>
        <p:nvSpPr>
          <p:cNvPr id="5" name="Text 3"/>
          <p:cNvSpPr/>
          <p:nvPr/>
        </p:nvSpPr>
        <p:spPr>
          <a:xfrm>
            <a:off x="731520" y="1645920"/>
            <a:ext cx="5120640" cy="274320"/>
          </a:xfrm>
          <a:prstGeom prst="rect">
            <a:avLst/>
          </a:prstGeom>
          <a:noFill/>
          <a:ln/>
        </p:spPr>
        <p:txBody>
          <a:bodyPr wrap="square" rtlCol="0" anchor="ctr"/>
          <a:lstStyle/>
          <a:p>
            <a:pPr indent="0" marL="0">
              <a:buNone/>
            </a:pPr>
            <a:r>
              <a:rPr lang="en-US" sz="1200" b="1" dirty="0">
                <a:solidFill>
                  <a:srgbClr val="0D9488"/>
                </a:solidFill>
                <a:latin typeface="Arial" pitchFamily="34" charset="0"/>
                <a:ea typeface="Arial" pitchFamily="34" charset="-122"/>
                <a:cs typeface="Arial" pitchFamily="34" charset="-120"/>
              </a:rPr>
              <a:t>THE "WEBSITE BIÑAN" PLATFORM</a:t>
            </a:r>
            <a:endParaRPr lang="en-US" sz="1200" dirty="0"/>
          </a:p>
        </p:txBody>
      </p:sp>
      <p:sp>
        <p:nvSpPr>
          <p:cNvPr id="6" name="Text 4"/>
          <p:cNvSpPr/>
          <p:nvPr/>
        </p:nvSpPr>
        <p:spPr>
          <a:xfrm>
            <a:off x="731520" y="2011680"/>
            <a:ext cx="5120640" cy="4114800"/>
          </a:xfrm>
          <a:prstGeom prst="rect">
            <a:avLst/>
          </a:prstGeom>
          <a:solidFill>
            <a:srgbClr val="FFFFFF"/>
          </a:solidFill>
          <a:ln w="12700">
            <a:solidFill>
              <a:srgbClr val="E2E8F0"/>
            </a:solidFill>
          </a:ln>
        </p:spPr>
        <p:txBody>
          <a:bodyPr wrap="square" lIns="228600" tIns="228600" rIns="228600" bIns="228600" rtlCol="0" anchor="t"/>
          <a:lstStyle/>
          <a:p>
            <a:pPr indent="0" marL="0">
              <a:buNone/>
            </a:pPr>
            <a:r>
              <a:rPr lang="en-US" sz="1600" b="1" dirty="0">
                <a:solidFill>
                  <a:srgbClr val="0F172A"/>
                </a:solidFill>
                <a:latin typeface="Arial" pitchFamily="34" charset="0"/>
                <a:ea typeface="Arial" pitchFamily="34" charset="-122"/>
                <a:cs typeface="Arial" pitchFamily="34" charset="-120"/>
              </a:rPr>
              <a:t>A Unified Government Directory &amp; Content Management System
</a:t>
            </a:r>
            <a:pPr indent="0" marL="0">
              <a:buNone/>
            </a:pPr>
            <a:r>
              <a:rPr lang="en-US" sz="1400" dirty="0">
                <a:solidFill>
                  <a:srgbClr val="334155"/>
                </a:solidFill>
                <a:latin typeface="Arial" pitchFamily="34" charset="0"/>
                <a:ea typeface="Arial" pitchFamily="34" charset="-122"/>
                <a:cs typeface="Arial" pitchFamily="34" charset="-120"/>
              </a:rPr>
              <a:t>• Serves as the central portal for all municipal departments and barangays of Biñan City to publish services, rosters, announcements, and contact information.
</a:t>
            </a:r>
            <a:pPr indent="0" marL="0">
              <a:buNone/>
            </a:pPr>
            <a:r>
              <a:rPr lang="en-US" sz="1400" dirty="0">
                <a:solidFill>
                  <a:srgbClr val="334155"/>
                </a:solidFill>
                <a:latin typeface="Arial" pitchFamily="34" charset="0"/>
                <a:ea typeface="Arial" pitchFamily="34" charset="-122"/>
                <a:cs typeface="Arial" pitchFamily="34" charset="-120"/>
              </a:rPr>
              <a:t>• Operates under a dual-interface structure containing a public citizen portal and an administrative dashboard built on CodeIgniter 4 framework.
</a:t>
            </a:r>
            <a:pPr indent="0" marL="0">
              <a:buNone/>
            </a:pPr>
            <a:r>
              <a:rPr lang="en-US" sz="1400" dirty="0">
                <a:solidFill>
                  <a:srgbClr val="334155"/>
                </a:solidFill>
                <a:latin typeface="Arial" pitchFamily="34" charset="0"/>
                <a:ea typeface="Arial" pitchFamily="34" charset="-122"/>
                <a:cs typeface="Arial" pitchFamily="34" charset="-120"/>
              </a:rPr>
              <a:t>• Facilitates direct transparency and local communication between local government units (LGUs) and citizens.</a:t>
            </a:r>
            <a:endParaRPr lang="en-US" sz="1600" dirty="0"/>
          </a:p>
        </p:txBody>
      </p:sp>
      <p:sp>
        <p:nvSpPr>
          <p:cNvPr id="7" name="Text 5"/>
          <p:cNvSpPr/>
          <p:nvPr/>
        </p:nvSpPr>
        <p:spPr>
          <a:xfrm>
            <a:off x="6309360" y="1645920"/>
            <a:ext cx="5120640" cy="274320"/>
          </a:xfrm>
          <a:prstGeom prst="rect">
            <a:avLst/>
          </a:prstGeom>
          <a:noFill/>
          <a:ln/>
        </p:spPr>
        <p:txBody>
          <a:bodyPr wrap="square" rtlCol="0" anchor="ctr"/>
          <a:lstStyle/>
          <a:p>
            <a:pPr indent="0" marL="0">
              <a:buNone/>
            </a:pPr>
            <a:r>
              <a:rPr lang="en-US" sz="1200" b="1" dirty="0">
                <a:solidFill>
                  <a:srgbClr val="0D9488"/>
                </a:solidFill>
                <a:latin typeface="Arial" pitchFamily="34" charset="0"/>
                <a:ea typeface="Arial" pitchFamily="34" charset="-122"/>
                <a:cs typeface="Arial" pitchFamily="34" charset="-120"/>
              </a:rPr>
              <a:t>ASSIGNMENT OBJECTIVES &amp; CONTRIBUTIONS</a:t>
            </a:r>
            <a:endParaRPr lang="en-US" sz="1200" dirty="0"/>
          </a:p>
        </p:txBody>
      </p:sp>
      <p:sp>
        <p:nvSpPr>
          <p:cNvPr id="8" name="Text 6"/>
          <p:cNvSpPr/>
          <p:nvPr/>
        </p:nvSpPr>
        <p:spPr>
          <a:xfrm>
            <a:off x="6309360" y="2011680"/>
            <a:ext cx="5120640" cy="4114800"/>
          </a:xfrm>
          <a:prstGeom prst="rect">
            <a:avLst/>
          </a:prstGeom>
          <a:solidFill>
            <a:srgbClr val="FFFFFF"/>
          </a:solidFill>
          <a:ln w="12700">
            <a:solidFill>
              <a:srgbClr val="E2E8F0"/>
            </a:solidFill>
          </a:ln>
        </p:spPr>
        <p:txBody>
          <a:bodyPr wrap="square" lIns="228600" tIns="228600" rIns="228600" bIns="228600" rtlCol="0" anchor="t"/>
          <a:lstStyle/>
          <a:p>
            <a:pPr indent="0" marL="0">
              <a:buNone/>
            </a:pPr>
            <a:r>
              <a:rPr lang="en-US" sz="1600" b="1" dirty="0">
                <a:solidFill>
                  <a:srgbClr val="0F172A"/>
                </a:solidFill>
                <a:latin typeface="Arial" pitchFamily="34" charset="0"/>
                <a:ea typeface="Arial" pitchFamily="34" charset="-122"/>
                <a:cs typeface="Arial" pitchFamily="34" charset="-120"/>
              </a:rPr>
              <a:t>Core Areas of Development &amp; Optimization
</a:t>
            </a:r>
            <a:pPr indent="0" marL="0">
              <a:buNone/>
            </a:pPr>
            <a:r>
              <a:rPr lang="en-US" sz="1400" dirty="0">
                <a:solidFill>
                  <a:srgbClr val="334155"/>
                </a:solidFill>
                <a:latin typeface="Arial" pitchFamily="34" charset="0"/>
                <a:ea typeface="Arial" pitchFamily="34" charset="-122"/>
                <a:cs typeface="Arial" pitchFamily="34" charset="-120"/>
              </a:rPr>
              <a:t>• Access Control Leveling: Implementing scoped permissions so Department and Barangay Admins can only view and update their own local content records.
</a:t>
            </a:r>
            <a:pPr indent="0" marL="0">
              <a:buNone/>
            </a:pPr>
            <a:r>
              <a:rPr lang="en-US" sz="1400" dirty="0">
                <a:solidFill>
                  <a:srgbClr val="334155"/>
                </a:solidFill>
                <a:latin typeface="Arial" pitchFamily="34" charset="0"/>
                <a:ea typeface="Arial" pitchFamily="34" charset="-122"/>
                <a:cs typeface="Arial" pitchFamily="34" charset="-120"/>
              </a:rPr>
              <a:t>• Mobile Telephony Integration: Enhancing hotlines to support multi-telco contact points (PLDT, Smart, Globe, Intelco) with proper formats and validations.
</a:t>
            </a:r>
            <a:pPr indent="0" marL="0">
              <a:buNone/>
            </a:pPr>
            <a:r>
              <a:rPr lang="en-US" sz="1400" dirty="0">
                <a:solidFill>
                  <a:srgbClr val="334155"/>
                </a:solidFill>
                <a:latin typeface="Arial" pitchFamily="34" charset="0"/>
                <a:ea typeface="Arial" pitchFamily="34" charset="-122"/>
                <a:cs typeface="Arial" pitchFamily="34" charset="-120"/>
              </a:rPr>
              <a:t>• Performance &amp; Offline Security: Localizing third-party CDN assets (DataTables, AOS, FontAwesome, etc.) directly on the server to prevent external dependency leaks and boost page load speed.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57200"/>
            <a:ext cx="10725912" cy="274320"/>
          </a:xfrm>
          <a:prstGeom prst="rect">
            <a:avLst/>
          </a:prstGeom>
          <a:noFill/>
          <a:ln/>
        </p:spPr>
        <p:txBody>
          <a:bodyPr wrap="square" rtlCol="0" anchor="ctr"/>
          <a:lstStyle/>
          <a:p>
            <a:pPr indent="0" marL="0">
              <a:buNone/>
            </a:pPr>
            <a:r>
              <a:rPr lang="en-US" sz="1000" b="1" dirty="0">
                <a:solidFill>
                  <a:srgbClr val="0D9488"/>
                </a:solidFill>
                <a:latin typeface="Arial" pitchFamily="34" charset="0"/>
                <a:ea typeface="Arial" pitchFamily="34" charset="-122"/>
                <a:cs typeface="Arial" pitchFamily="34" charset="-120"/>
              </a:rPr>
              <a:t>02 / PROGRESS &amp; COMPLETION</a:t>
            </a:r>
            <a:endParaRPr lang="en-US" sz="1000" dirty="0"/>
          </a:p>
        </p:txBody>
      </p:sp>
      <p:sp>
        <p:nvSpPr>
          <p:cNvPr id="3" name="Text 1"/>
          <p:cNvSpPr/>
          <p:nvPr/>
        </p:nvSpPr>
        <p:spPr>
          <a:xfrm>
            <a:off x="731520" y="731520"/>
            <a:ext cx="10725912" cy="548640"/>
          </a:xfrm>
          <a:prstGeom prst="rect">
            <a:avLst/>
          </a:prstGeom>
          <a:noFill/>
          <a:ln/>
        </p:spPr>
        <p:txBody>
          <a:bodyPr wrap="square"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Development Status Overview</a:t>
            </a:r>
            <a:endParaRPr lang="en-US" sz="2600" dirty="0"/>
          </a:p>
        </p:txBody>
      </p:sp>
      <p:sp>
        <p:nvSpPr>
          <p:cNvPr id="4" name="Shape 2"/>
          <p:cNvSpPr/>
          <p:nvPr/>
        </p:nvSpPr>
        <p:spPr>
          <a:xfrm>
            <a:off x="731520" y="1325880"/>
            <a:ext cx="10725912" cy="18288"/>
          </a:xfrm>
          <a:prstGeom prst="rect">
            <a:avLst/>
          </a:prstGeom>
          <a:solidFill>
            <a:srgbClr val="0D9488"/>
          </a:solidFill>
          <a:ln/>
        </p:spPr>
      </p:sp>
      <p:sp>
        <p:nvSpPr>
          <p:cNvPr id="5" name="Text 3"/>
          <p:cNvSpPr/>
          <p:nvPr/>
        </p:nvSpPr>
        <p:spPr>
          <a:xfrm>
            <a:off x="731520" y="1645920"/>
            <a:ext cx="3200400" cy="274320"/>
          </a:xfrm>
          <a:prstGeom prst="rect">
            <a:avLst/>
          </a:prstGeom>
          <a:noFill/>
          <a:ln/>
        </p:spPr>
        <p:txBody>
          <a:bodyPr wrap="square" rtlCol="0" anchor="ctr"/>
          <a:lstStyle/>
          <a:p>
            <a:pPr indent="0" marL="0">
              <a:buNone/>
            </a:pPr>
            <a:r>
              <a:rPr lang="en-US" sz="1200" b="1" dirty="0">
                <a:solidFill>
                  <a:srgbClr val="0D9488"/>
                </a:solidFill>
                <a:latin typeface="Arial" pitchFamily="34" charset="0"/>
                <a:ea typeface="Arial" pitchFamily="34" charset="-122"/>
                <a:cs typeface="Arial" pitchFamily="34" charset="-120"/>
              </a:rPr>
              <a:t>OVERALL PROGRESS</a:t>
            </a:r>
            <a:endParaRPr lang="en-US" sz="1200" dirty="0"/>
          </a:p>
        </p:txBody>
      </p:sp>
      <p:sp>
        <p:nvSpPr>
          <p:cNvPr id="6" name="Text 4"/>
          <p:cNvSpPr/>
          <p:nvPr/>
        </p:nvSpPr>
        <p:spPr>
          <a:xfrm>
            <a:off x="731520" y="2011680"/>
            <a:ext cx="3200400" cy="4114800"/>
          </a:xfrm>
          <a:prstGeom prst="rect">
            <a:avLst/>
          </a:prstGeom>
          <a:solidFill>
            <a:srgbClr val="FFFFFF"/>
          </a:solidFill>
          <a:ln w="12700">
            <a:solidFill>
              <a:srgbClr val="E2E8F0"/>
            </a:solidFill>
          </a:ln>
        </p:spPr>
        <p:txBody>
          <a:bodyPr wrap="square" lIns="254000" tIns="254000" rIns="254000" bIns="254000" rtlCol="0" anchor="ctr"/>
          <a:lstStyle/>
          <a:p>
            <a:pPr algn="ctr" indent="0" marL="0">
              <a:buNone/>
            </a:pPr>
            <a:r>
              <a:rPr lang="en-US" sz="7200" b="1" dirty="0">
                <a:solidFill>
                  <a:srgbClr val="0D9488"/>
                </a:solidFill>
                <a:latin typeface="Trebuchet MS" pitchFamily="34" charset="0"/>
                <a:ea typeface="Trebuchet MS" pitchFamily="34" charset="-122"/>
                <a:cs typeface="Trebuchet MS" pitchFamily="34" charset="-120"/>
              </a:rPr>
              <a:t>95%
</a:t>
            </a:r>
            <a:pPr algn="ctr" indent="0" marL="0">
              <a:buNone/>
            </a:pPr>
            <a:r>
              <a:rPr lang="en-US" sz="1600" b="1" dirty="0">
                <a:solidFill>
                  <a:srgbClr val="0F172A"/>
                </a:solidFill>
                <a:latin typeface="Arial" pitchFamily="34" charset="0"/>
                <a:ea typeface="Arial" pitchFamily="34" charset="-122"/>
                <a:cs typeface="Arial" pitchFamily="34" charset="-120"/>
              </a:rPr>
              <a:t>COMPLETED
</a:t>
            </a:r>
            <a:pPr algn="ctr" indent="0" marL="0">
              <a:buNone/>
            </a:pPr>
            <a:r>
              <a:rPr lang="en-US" sz="1300" dirty="0">
                <a:solidFill>
                  <a:srgbClr val="334155"/>
                </a:solidFill>
                <a:latin typeface="Arial" pitchFamily="34" charset="0"/>
                <a:ea typeface="Arial" pitchFamily="34" charset="-122"/>
                <a:cs typeface="Arial" pitchFamily="34" charset="-120"/>
              </a:rPr>
              <a:t>Core features implemented, database migrations completed, and vendor assets localized.</a:t>
            </a:r>
            <a:endParaRPr lang="en-US" sz="7200" dirty="0"/>
          </a:p>
          <a:p>
            <a:pPr algn="ctr" indent="0" marL="0">
              <a:buNone/>
            </a:pPr>
            <a:endParaRPr lang="en-US" sz="7200" dirty="0"/>
          </a:p>
          <a:p>
            <a:pPr algn="ctr" indent="0" marL="0">
              <a:buNone/>
            </a:pPr>
            <a:r>
              <a:rPr lang="en-US" sz="1300" dirty="0">
                <a:solidFill>
                  <a:srgbClr val="334155"/>
                </a:solidFill>
                <a:latin typeface="Arial" pitchFamily="34" charset="0"/>
                <a:ea typeface="Arial" pitchFamily="34" charset="-122"/>
                <a:cs typeface="Arial" pitchFamily="34" charset="-120"/>
              </a:rPr>
              <a:t>Finalizing verification of role boundary rules across department-specific scopes.</a:t>
            </a:r>
            <a:endParaRPr lang="en-US" sz="7200" dirty="0"/>
          </a:p>
        </p:txBody>
      </p:sp>
      <p:sp>
        <p:nvSpPr>
          <p:cNvPr id="7" name="Text 5"/>
          <p:cNvSpPr/>
          <p:nvPr/>
        </p:nvSpPr>
        <p:spPr>
          <a:xfrm>
            <a:off x="4297680" y="1645920"/>
            <a:ext cx="7132320" cy="274320"/>
          </a:xfrm>
          <a:prstGeom prst="rect">
            <a:avLst/>
          </a:prstGeom>
          <a:noFill/>
          <a:ln/>
        </p:spPr>
        <p:txBody>
          <a:bodyPr wrap="square" rtlCol="0" anchor="ctr"/>
          <a:lstStyle/>
          <a:p>
            <a:pPr indent="0" marL="0">
              <a:buNone/>
            </a:pPr>
            <a:r>
              <a:rPr lang="en-US" sz="1200" b="1" dirty="0">
                <a:solidFill>
                  <a:srgbClr val="0D9488"/>
                </a:solidFill>
                <a:latin typeface="Arial" pitchFamily="34" charset="0"/>
                <a:ea typeface="Arial" pitchFamily="34" charset="-122"/>
                <a:cs typeface="Arial" pitchFamily="34" charset="-120"/>
              </a:rPr>
              <a:t>TASK LEVEL PROGRESS DETAIL</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297680" y="2011680"/>
          <a:ext cx="7132320" cy="4114800"/>
        </p:xfrm>
        <a:graphic>
          <a:graphicData uri="http://schemas.openxmlformats.org/drawingml/2006/table">
            <a:tbl>
              <a:tblPr/>
              <a:tblGrid>
                <a:gridCol w="1828800"/>
                <a:gridCol w="1097280"/>
                <a:gridCol w="822960"/>
                <a:gridCol w="3383280"/>
              </a:tblGrid>
              <a:tr h="640080">
                <a:tc>
                  <a:txBody>
                    <a:bodyPr/>
                    <a:lstStyle/>
                    <a:p>
                      <a:pPr indent="0" marL="0">
                        <a:buNone/>
                      </a:pPr>
                      <a:r>
                        <a:rPr lang="en-US" sz="1300" b="1" dirty="0">
                          <a:solidFill>
                            <a:srgbClr val="FFFFFF"/>
                          </a:solidFill>
                          <a:latin typeface="Arial" pitchFamily="34" charset="0"/>
                          <a:ea typeface="Arial" pitchFamily="34" charset="-122"/>
                          <a:cs typeface="Arial" pitchFamily="34" charset="-120"/>
                        </a:rPr>
                        <a:t>Module / Feature Name</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Status</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Completion</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Key Deliverables &amp; Actions</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640080">
                <a:tc>
                  <a:txBody>
                    <a:bodyPr/>
                    <a:lstStyle/>
                    <a:p>
                      <a:pPr indent="0" marL="0">
                        <a:buNone/>
                      </a:pPr>
                      <a:r>
                        <a:rPr lang="en-US" sz="1200" b="1" dirty="0">
                          <a:solidFill>
                            <a:srgbClr val="334155"/>
                          </a:solidFill>
                          <a:latin typeface="Arial" pitchFamily="34" charset="0"/>
                          <a:ea typeface="Arial" pitchFamily="34" charset="-122"/>
                          <a:cs typeface="Arial" pitchFamily="34" charset="-120"/>
                        </a:rPr>
                        <a:t>User Access Control Leveling</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D97706"/>
                          </a:solidFill>
                          <a:latin typeface="Arial" pitchFamily="34" charset="0"/>
                          <a:ea typeface="Arial" pitchFamily="34" charset="-122"/>
                          <a:cs typeface="Arial" pitchFamily="34" charset="-120"/>
                        </a:rPr>
                        <a:t>IN PROGRESS</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34155"/>
                          </a:solidFill>
                          <a:latin typeface="Arial" pitchFamily="34" charset="0"/>
                          <a:ea typeface="Arial" pitchFamily="34" charset="-122"/>
                          <a:cs typeface="Arial" pitchFamily="34" charset="-120"/>
                        </a:rPr>
                        <a:t>86%</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Arial" pitchFamily="34" charset="0"/>
                          <a:ea typeface="Arial" pitchFamily="34" charset="-122"/>
                          <a:cs typeface="Arial" pitchFamily="34" charset="-120"/>
                        </a:rPr>
                        <a:t>Restricted scopes on Dept/Brgy forms, custom routing in Admin.php, hidden menus</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rgbClr val="334155"/>
                          </a:solidFill>
                          <a:latin typeface="Arial" pitchFamily="34" charset="0"/>
                          <a:ea typeface="Arial" pitchFamily="34" charset="-122"/>
                          <a:cs typeface="Arial" pitchFamily="34" charset="-120"/>
                        </a:rPr>
                        <a:t>Barangay Staff Features</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0B981"/>
                          </a:solidFill>
                          <a:latin typeface="Arial" pitchFamily="34" charset="0"/>
                          <a:ea typeface="Arial" pitchFamily="34" charset="-122"/>
                          <a:cs typeface="Arial" pitchFamily="34" charset="-120"/>
                        </a:rPr>
                        <a:t>COMPLETED</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34155"/>
                          </a:solidFill>
                          <a:latin typeface="Arial" pitchFamily="34" charset="0"/>
                          <a:ea typeface="Arial" pitchFamily="34" charset="-122"/>
                          <a:cs typeface="Arial" pitchFamily="34" charset="-120"/>
                        </a:rPr>
                        <a:t>100%</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Arial" pitchFamily="34" charset="0"/>
                          <a:ea typeface="Arial" pitchFamily="34" charset="-122"/>
                          <a:cs typeface="Arial" pitchFamily="34" charset="-120"/>
                        </a:rPr>
                        <a:t>Added barangay_staff text column, Quill editor panels, public list rendering</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rgbClr val="334155"/>
                          </a:solidFill>
                          <a:latin typeface="Arial" pitchFamily="34" charset="0"/>
                          <a:ea typeface="Arial" pitchFamily="34" charset="-122"/>
                          <a:cs typeface="Arial" pitchFamily="34" charset="-120"/>
                        </a:rPr>
                        <a:t>Emergency Hotlines</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0B981"/>
                          </a:solidFill>
                          <a:latin typeface="Arial" pitchFamily="34" charset="0"/>
                          <a:ea typeface="Arial" pitchFamily="34" charset="-122"/>
                          <a:cs typeface="Arial" pitchFamily="34" charset="-120"/>
                        </a:rPr>
                        <a:t>COMPLETED</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34155"/>
                          </a:solidFill>
                          <a:latin typeface="Arial" pitchFamily="34" charset="0"/>
                          <a:ea typeface="Arial" pitchFamily="34" charset="-122"/>
                          <a:cs typeface="Arial" pitchFamily="34" charset="-120"/>
                        </a:rPr>
                        <a:t>100%</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Arial" pitchFamily="34" charset="0"/>
                          <a:ea typeface="Arial" pitchFamily="34" charset="-122"/>
                          <a:cs typeface="Arial" pitchFamily="34" charset="-120"/>
                        </a:rPr>
                        <a:t>Integrated in About CMS, added Home &amp; About dynamic loops, HTML template design</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rgbClr val="334155"/>
                          </a:solidFill>
                          <a:latin typeface="Arial" pitchFamily="34" charset="0"/>
                          <a:ea typeface="Arial" pitchFamily="34" charset="-122"/>
                          <a:cs typeface="Arial" pitchFamily="34" charset="-120"/>
                        </a:rPr>
                        <a:t>Smart/Globe Contacts</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0B981"/>
                          </a:solidFill>
                          <a:latin typeface="Arial" pitchFamily="34" charset="0"/>
                          <a:ea typeface="Arial" pitchFamily="34" charset="-122"/>
                          <a:cs typeface="Arial" pitchFamily="34" charset="-120"/>
                        </a:rPr>
                        <a:t>COMPLETED</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34155"/>
                          </a:solidFill>
                          <a:latin typeface="Arial" pitchFamily="34" charset="0"/>
                          <a:ea typeface="Arial" pitchFamily="34" charset="-122"/>
                          <a:cs typeface="Arial" pitchFamily="34" charset="-120"/>
                        </a:rPr>
                        <a:t>100%</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Arial" pitchFamily="34" charset="0"/>
                          <a:ea typeface="Arial" pitchFamily="34" charset="-122"/>
                          <a:cs typeface="Arial" pitchFamily="34" charset="-120"/>
                        </a:rPr>
                        <a:t>Added smart/globe column migrations, expanded edit modal, strict regex phone checks</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rgbClr val="334155"/>
                          </a:solidFill>
                          <a:latin typeface="Arial" pitchFamily="34" charset="0"/>
                          <a:ea typeface="Arial" pitchFamily="34" charset="-122"/>
                          <a:cs typeface="Arial" pitchFamily="34" charset="-120"/>
                        </a:rPr>
                        <a:t>Third-Party Asset Localization</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0B981"/>
                          </a:solidFill>
                          <a:latin typeface="Arial" pitchFamily="34" charset="0"/>
                          <a:ea typeface="Arial" pitchFamily="34" charset="-122"/>
                          <a:cs typeface="Arial" pitchFamily="34" charset="-120"/>
                        </a:rPr>
                        <a:t>COMPLETED</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34155"/>
                          </a:solidFill>
                          <a:latin typeface="Arial" pitchFamily="34" charset="0"/>
                          <a:ea typeface="Arial" pitchFamily="34" charset="-122"/>
                          <a:cs typeface="Arial" pitchFamily="34" charset="-120"/>
                        </a:rPr>
                        <a:t>100%</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Arial" pitchFamily="34" charset="0"/>
                          <a:ea typeface="Arial" pitchFamily="34" charset="-122"/>
                          <a:cs typeface="Arial" pitchFamily="34" charset="-120"/>
                        </a:rPr>
                        <a:t>Localized 10+ CDN assets (DataTables, AOS, Moment) to public/assets, helper file</a:t>
                      </a:r>
                      <a:endParaRPr lang="en-US" sz="12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57200"/>
            <a:ext cx="10725912" cy="274320"/>
          </a:xfrm>
          <a:prstGeom prst="rect">
            <a:avLst/>
          </a:prstGeom>
          <a:noFill/>
          <a:ln/>
        </p:spPr>
        <p:txBody>
          <a:bodyPr wrap="square" rtlCol="0" anchor="ctr"/>
          <a:lstStyle/>
          <a:p>
            <a:pPr indent="0" marL="0">
              <a:buNone/>
            </a:pPr>
            <a:r>
              <a:rPr lang="en-US" sz="1000" b="1" dirty="0">
                <a:solidFill>
                  <a:srgbClr val="0D9488"/>
                </a:solidFill>
                <a:latin typeface="Arial" pitchFamily="34" charset="0"/>
                <a:ea typeface="Arial" pitchFamily="34" charset="-122"/>
                <a:cs typeface="Arial" pitchFamily="34" charset="-120"/>
              </a:rPr>
              <a:t>03 / WORK NARRATIVE</a:t>
            </a:r>
            <a:endParaRPr lang="en-US" sz="1000" dirty="0"/>
          </a:p>
        </p:txBody>
      </p:sp>
      <p:sp>
        <p:nvSpPr>
          <p:cNvPr id="3" name="Text 1"/>
          <p:cNvSpPr/>
          <p:nvPr/>
        </p:nvSpPr>
        <p:spPr>
          <a:xfrm>
            <a:off x="731520" y="731520"/>
            <a:ext cx="10725912" cy="548640"/>
          </a:xfrm>
          <a:prstGeom prst="rect">
            <a:avLst/>
          </a:prstGeom>
          <a:noFill/>
          <a:ln/>
        </p:spPr>
        <p:txBody>
          <a:bodyPr wrap="square"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Success Stories &amp; Completed Tasks</a:t>
            </a:r>
            <a:endParaRPr lang="en-US" sz="2600" dirty="0"/>
          </a:p>
        </p:txBody>
      </p:sp>
      <p:sp>
        <p:nvSpPr>
          <p:cNvPr id="4" name="Shape 2"/>
          <p:cNvSpPr/>
          <p:nvPr/>
        </p:nvSpPr>
        <p:spPr>
          <a:xfrm>
            <a:off x="731520" y="1325880"/>
            <a:ext cx="10725912" cy="18288"/>
          </a:xfrm>
          <a:prstGeom prst="rect">
            <a:avLst/>
          </a:prstGeom>
          <a:solidFill>
            <a:srgbClr val="0D9488"/>
          </a:solidFill>
          <a:ln/>
        </p:spPr>
      </p:sp>
      <p:sp>
        <p:nvSpPr>
          <p:cNvPr id="5" name="Text 3"/>
          <p:cNvSpPr/>
          <p:nvPr/>
        </p:nvSpPr>
        <p:spPr>
          <a:xfrm>
            <a:off x="731520" y="1645920"/>
            <a:ext cx="10725912" cy="2103120"/>
          </a:xfrm>
          <a:prstGeom prst="rect">
            <a:avLst/>
          </a:prstGeom>
          <a:solidFill>
            <a:srgbClr val="FFFFFF"/>
          </a:solidFill>
          <a:ln w="12700">
            <a:solidFill>
              <a:srgbClr val="E2E8F0"/>
            </a:solidFill>
          </a:ln>
        </p:spPr>
        <p:txBody>
          <a:bodyPr wrap="square" lIns="228600" tIns="228600" rIns="228600" bIns="228600" rtlCol="0" anchor="t"/>
          <a:lstStyle/>
          <a:p>
            <a:pPr indent="0" marL="0">
              <a:buNone/>
            </a:pPr>
            <a:r>
              <a:rPr lang="en-US" sz="1600" b="1" dirty="0">
                <a:solidFill>
                  <a:srgbClr val="0F172A"/>
                </a:solidFill>
                <a:latin typeface="Arial" pitchFamily="34" charset="0"/>
                <a:ea typeface="Arial" pitchFamily="34" charset="-122"/>
                <a:cs typeface="Arial" pitchFamily="34" charset="-120"/>
              </a:rPr>
              <a:t>EXPANSION OF CITIZEN CONTACT CHANNELS
</a:t>
            </a:r>
            <a:pPr indent="0" marL="0">
              <a:buNone/>
            </a:pPr>
            <a:r>
              <a:rPr lang="en-US" sz="1300" b="1" dirty="0">
                <a:solidFill>
                  <a:srgbClr val="0D9488"/>
                </a:solidFill>
                <a:latin typeface="Arial" pitchFamily="34" charset="0"/>
                <a:ea typeface="Arial" pitchFamily="34" charset="-122"/>
                <a:cs typeface="Arial" pitchFamily="34" charset="-120"/>
              </a:rPr>
              <a:t>How it was completed: </a:t>
            </a:r>
            <a:pPr indent="0" marL="0">
              <a:buNone/>
            </a:pPr>
            <a:r>
              <a:rPr lang="en-US" sz="1300" dirty="0">
                <a:solidFill>
                  <a:srgbClr val="334155"/>
                </a:solidFill>
                <a:latin typeface="Arial" pitchFamily="34" charset="0"/>
                <a:ea typeface="Arial" pitchFamily="34" charset="-122"/>
                <a:cs typeface="Arial" pitchFamily="34" charset="-120"/>
              </a:rPr>
              <a:t>The existing hotlines only supported landlines (PLDT/Intelco). We successfully added mobile support for Smart and Globe by adding columns to the table and integrating validation scripts in JS. This enables prompt mobile contact from users.
</a:t>
            </a:r>
            <a:pPr indent="0" marL="0">
              <a:buNone/>
            </a:pPr>
            <a:r>
              <a:rPr lang="en-US" sz="1300" b="1" dirty="0">
                <a:solidFill>
                  <a:srgbClr val="0D9488"/>
                </a:solidFill>
                <a:latin typeface="Arial" pitchFamily="34" charset="0"/>
                <a:ea typeface="Arial" pitchFamily="34" charset="-122"/>
                <a:cs typeface="Arial" pitchFamily="34" charset="-120"/>
              </a:rPr>
              <a:t>Dynamic CMS integration: </a:t>
            </a:r>
            <a:pPr indent="0" marL="0">
              <a:buNone/>
            </a:pPr>
            <a:r>
              <a:rPr lang="en-US" sz="1300" dirty="0">
                <a:solidFill>
                  <a:srgbClr val="334155"/>
                </a:solidFill>
                <a:latin typeface="Arial" pitchFamily="34" charset="0"/>
                <a:ea typeface="Arial" pitchFamily="34" charset="-122"/>
                <a:cs typeface="Arial" pitchFamily="34" charset="-120"/>
              </a:rPr>
              <a:t>Emergency contacts were moved from hardcoded HTML structure to a database-backed section in the about CMS page. Changes done in the admin portal now populate instantly to the home page card overlays, which ensures zero stale data.</a:t>
            </a:r>
            <a:endParaRPr lang="en-US" sz="1600" dirty="0"/>
          </a:p>
        </p:txBody>
      </p:sp>
      <p:sp>
        <p:nvSpPr>
          <p:cNvPr id="6" name="Text 4"/>
          <p:cNvSpPr/>
          <p:nvPr/>
        </p:nvSpPr>
        <p:spPr>
          <a:xfrm>
            <a:off x="731520" y="4023360"/>
            <a:ext cx="10725912" cy="2103120"/>
          </a:xfrm>
          <a:prstGeom prst="rect">
            <a:avLst/>
          </a:prstGeom>
          <a:solidFill>
            <a:srgbClr val="FFFFFF"/>
          </a:solidFill>
          <a:ln w="12700">
            <a:solidFill>
              <a:srgbClr val="E2E8F0"/>
            </a:solidFill>
          </a:ln>
        </p:spPr>
        <p:txBody>
          <a:bodyPr wrap="square" lIns="228600" tIns="228600" rIns="228600" bIns="228600" rtlCol="0" anchor="t"/>
          <a:lstStyle/>
          <a:p>
            <a:pPr indent="0" marL="0">
              <a:buNone/>
            </a:pPr>
            <a:r>
              <a:rPr lang="en-US" sz="1600" b="1" dirty="0">
                <a:solidFill>
                  <a:srgbClr val="0F172A"/>
                </a:solidFill>
                <a:latin typeface="Arial" pitchFamily="34" charset="0"/>
                <a:ea typeface="Arial" pitchFamily="34" charset="-122"/>
                <a:cs typeface="Arial" pitchFamily="34" charset="-120"/>
              </a:rPr>
              <a:t>BARANGAY STAFF RICH TEXT &amp; OFFLINE INFRASTRUCTURE LOCALIZATION
</a:t>
            </a:r>
            <a:pPr indent="0" marL="0">
              <a:buNone/>
            </a:pPr>
            <a:r>
              <a:rPr lang="en-US" sz="1300" b="1" dirty="0">
                <a:solidFill>
                  <a:srgbClr val="0D9488"/>
                </a:solidFill>
                <a:latin typeface="Arial" pitchFamily="34" charset="0"/>
                <a:ea typeface="Arial" pitchFamily="34" charset="-122"/>
                <a:cs typeface="Arial" pitchFamily="34" charset="-120"/>
              </a:rPr>
              <a:t>Rich-text official lists: </a:t>
            </a:r>
            <a:pPr indent="0" marL="0">
              <a:buNone/>
            </a:pPr>
            <a:r>
              <a:rPr lang="en-US" sz="1300" dirty="0">
                <a:solidFill>
                  <a:srgbClr val="334155"/>
                </a:solidFill>
                <a:latin typeface="Arial" pitchFamily="34" charset="0"/>
                <a:ea typeface="Arial" pitchFamily="34" charset="-122"/>
                <a:cs typeface="Arial" pitchFamily="34" charset="-120"/>
              </a:rPr>
              <a:t>To display barangay rosters beautifully, we integrated Quill.js rich text editors inside the barangay admin modal panels. The editor outputs HTML directly into the database, allowing styled lists of officials on public views.
</a:t>
            </a:r>
            <a:pPr indent="0" marL="0">
              <a:buNone/>
            </a:pPr>
            <a:r>
              <a:rPr lang="en-US" sz="1300" b="1" dirty="0">
                <a:solidFill>
                  <a:srgbClr val="0D9488"/>
                </a:solidFill>
                <a:latin typeface="Arial" pitchFamily="34" charset="0"/>
                <a:ea typeface="Arial" pitchFamily="34" charset="-122"/>
                <a:cs typeface="Arial" pitchFamily="34" charset="-120"/>
              </a:rPr>
              <a:t>Offline localization strategy: </a:t>
            </a:r>
            <a:pPr indent="0" marL="0">
              <a:buNone/>
            </a:pPr>
            <a:r>
              <a:rPr lang="en-US" sz="1300" dirty="0">
                <a:solidFill>
                  <a:srgbClr val="334155"/>
                </a:solidFill>
                <a:latin typeface="Arial" pitchFamily="34" charset="0"/>
                <a:ea typeface="Arial" pitchFamily="34" charset="-122"/>
                <a:cs typeface="Arial" pitchFamily="34" charset="-120"/>
              </a:rPr>
              <a:t>CDNs (cdnjs, jsdelivr, unpkg) were previously loading libraries dynamically. To secure the app against downtime and reduce page latency, we downloaded 10 key libraries and placed them under public assets directory. We modified the CodeIgniter asset helper function to map requests locally.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57200"/>
            <a:ext cx="10725912" cy="274320"/>
          </a:xfrm>
          <a:prstGeom prst="rect">
            <a:avLst/>
          </a:prstGeom>
          <a:noFill/>
          <a:ln/>
        </p:spPr>
        <p:txBody>
          <a:bodyPr wrap="square" rtlCol="0" anchor="ctr"/>
          <a:lstStyle/>
          <a:p>
            <a:pPr indent="0" marL="0">
              <a:buNone/>
            </a:pPr>
            <a:r>
              <a:rPr lang="en-US" sz="1000" b="1" dirty="0">
                <a:solidFill>
                  <a:srgbClr val="0D9488"/>
                </a:solidFill>
                <a:latin typeface="Arial" pitchFamily="34" charset="0"/>
                <a:ea typeface="Arial" pitchFamily="34" charset="-122"/>
                <a:cs typeface="Arial" pitchFamily="34" charset="-120"/>
              </a:rPr>
              <a:t>04 / CHALLENGES &amp; CONSTRAINTS</a:t>
            </a:r>
            <a:endParaRPr lang="en-US" sz="1000" dirty="0"/>
          </a:p>
        </p:txBody>
      </p:sp>
      <p:sp>
        <p:nvSpPr>
          <p:cNvPr id="3" name="Text 1"/>
          <p:cNvSpPr/>
          <p:nvPr/>
        </p:nvSpPr>
        <p:spPr>
          <a:xfrm>
            <a:off x="731520" y="731520"/>
            <a:ext cx="10725912" cy="548640"/>
          </a:xfrm>
          <a:prstGeom prst="rect">
            <a:avLst/>
          </a:prstGeom>
          <a:noFill/>
          <a:ln/>
        </p:spPr>
        <p:txBody>
          <a:bodyPr wrap="square"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Role-Based Access Leveling</a:t>
            </a:r>
            <a:endParaRPr lang="en-US" sz="2600" dirty="0"/>
          </a:p>
        </p:txBody>
      </p:sp>
      <p:sp>
        <p:nvSpPr>
          <p:cNvPr id="4" name="Shape 2"/>
          <p:cNvSpPr/>
          <p:nvPr/>
        </p:nvSpPr>
        <p:spPr>
          <a:xfrm>
            <a:off x="731520" y="1325880"/>
            <a:ext cx="10725912" cy="18288"/>
          </a:xfrm>
          <a:prstGeom prst="rect">
            <a:avLst/>
          </a:prstGeom>
          <a:solidFill>
            <a:srgbClr val="0D9488"/>
          </a:solidFill>
          <a:ln/>
        </p:spPr>
      </p:sp>
      <p:sp>
        <p:nvSpPr>
          <p:cNvPr id="5" name="Text 3"/>
          <p:cNvSpPr/>
          <p:nvPr/>
        </p:nvSpPr>
        <p:spPr>
          <a:xfrm>
            <a:off x="731520" y="1645920"/>
            <a:ext cx="5120640" cy="274320"/>
          </a:xfrm>
          <a:prstGeom prst="rect">
            <a:avLst/>
          </a:prstGeom>
          <a:noFill/>
          <a:ln/>
        </p:spPr>
        <p:txBody>
          <a:bodyPr wrap="square" rtlCol="0" anchor="ctr"/>
          <a:lstStyle/>
          <a:p>
            <a:pPr indent="0" marL="0">
              <a:buNone/>
            </a:pPr>
            <a:r>
              <a:rPr lang="en-US" sz="1200" b="1" dirty="0">
                <a:solidFill>
                  <a:srgbClr val="0D9488"/>
                </a:solidFill>
                <a:latin typeface="Arial" pitchFamily="34" charset="0"/>
                <a:ea typeface="Arial" pitchFamily="34" charset="-122"/>
                <a:cs typeface="Arial" pitchFamily="34" charset="-120"/>
              </a:rPr>
              <a:t>THE ACCESS CONTROL CHALLENGE</a:t>
            </a:r>
            <a:endParaRPr lang="en-US" sz="1200" dirty="0"/>
          </a:p>
        </p:txBody>
      </p:sp>
      <p:sp>
        <p:nvSpPr>
          <p:cNvPr id="6" name="Text 4"/>
          <p:cNvSpPr/>
          <p:nvPr/>
        </p:nvSpPr>
        <p:spPr>
          <a:xfrm>
            <a:off x="731520" y="2011680"/>
            <a:ext cx="5120640" cy="4114800"/>
          </a:xfrm>
          <a:prstGeom prst="rect">
            <a:avLst/>
          </a:prstGeom>
          <a:solidFill>
            <a:srgbClr val="FFFFFF"/>
          </a:solidFill>
          <a:ln w="12700">
            <a:solidFill>
              <a:srgbClr val="E2E8F0"/>
            </a:solidFill>
          </a:ln>
        </p:spPr>
        <p:txBody>
          <a:bodyPr wrap="square" lIns="228600" tIns="228600" rIns="228600" bIns="228600" rtlCol="0" anchor="t"/>
          <a:lstStyle/>
          <a:p>
            <a:pPr indent="0" marL="0">
              <a:buNone/>
            </a:pPr>
            <a:r>
              <a:rPr lang="en-US" sz="1600" b="1" dirty="0">
                <a:solidFill>
                  <a:srgbClr val="0F172A"/>
                </a:solidFill>
                <a:latin typeface="Arial" pitchFamily="34" charset="0"/>
                <a:ea typeface="Arial" pitchFamily="34" charset="-122"/>
                <a:cs typeface="Arial" pitchFamily="34" charset="-120"/>
              </a:rPr>
              <a:t>Securing Department Boundaries &amp; Sidebar Menus
</a:t>
            </a:r>
            <a:pPr indent="0" marL="0">
              <a:buNone/>
            </a:pPr>
            <a:r>
              <a:rPr lang="en-US" sz="1300" dirty="0">
                <a:solidFill>
                  <a:srgbClr val="334155"/>
                </a:solidFill>
                <a:latin typeface="Arial" pitchFamily="34" charset="0"/>
                <a:ea typeface="Arial" pitchFamily="34" charset="-122"/>
                <a:cs typeface="Arial" pitchFamily="34" charset="-120"/>
              </a:rPr>
              <a:t>• Department and Barangay scoped administrators must only modify records belonging to their respective domains. For instance, a Barangay Admin can only edit their own services, and a Department Admin can only update their department details.
</a:t>
            </a:r>
            <a:pPr indent="0" marL="0">
              <a:buNone/>
            </a:pPr>
            <a:r>
              <a:rPr lang="en-US" sz="1300" dirty="0">
                <a:solidFill>
                  <a:srgbClr val="334155"/>
                </a:solidFill>
                <a:latin typeface="Arial" pitchFamily="34" charset="0"/>
                <a:ea typeface="Arial" pitchFamily="34" charset="-122"/>
                <a:cs typeface="Arial" pitchFamily="34" charset="-120"/>
              </a:rPr>
              <a:t>• Hiding sidebar links alone is insufficient. We had to enforce checks inside the PHP Controllers (e.g. checks inside the index and CRUD methods of Admin.php) to restrict direct URL inputs.
</a:t>
            </a:r>
            <a:pPr indent="0" marL="0">
              <a:buNone/>
            </a:pPr>
            <a:r>
              <a:rPr lang="en-US" sz="1300" dirty="0">
                <a:solidFill>
                  <a:srgbClr val="334155"/>
                </a:solidFill>
                <a:latin typeface="Arial" pitchFamily="34" charset="0"/>
                <a:ea typeface="Arial" pitchFamily="34" charset="-122"/>
                <a:cs typeface="Arial" pitchFamily="34" charset="-120"/>
              </a:rPr>
              <a:t>• Special offices (PESO for careers, HRDO, BPLO, Mayor's Corner) require custom, localized CRUD logic instead of standardized roles.</a:t>
            </a:r>
            <a:endParaRPr lang="en-US" sz="1600" dirty="0"/>
          </a:p>
        </p:txBody>
      </p:sp>
      <p:sp>
        <p:nvSpPr>
          <p:cNvPr id="7" name="Text 5"/>
          <p:cNvSpPr/>
          <p:nvPr/>
        </p:nvSpPr>
        <p:spPr>
          <a:xfrm>
            <a:off x="6309360" y="1645920"/>
            <a:ext cx="5120640" cy="274320"/>
          </a:xfrm>
          <a:prstGeom prst="rect">
            <a:avLst/>
          </a:prstGeom>
          <a:noFill/>
          <a:ln/>
        </p:spPr>
        <p:txBody>
          <a:bodyPr wrap="square" rtlCol="0" anchor="ctr"/>
          <a:lstStyle/>
          <a:p>
            <a:pPr indent="0" marL="0">
              <a:buNone/>
            </a:pPr>
            <a:r>
              <a:rPr lang="en-US" sz="1200" b="1" dirty="0">
                <a:solidFill>
                  <a:srgbClr val="0D9488"/>
                </a:solidFill>
                <a:latin typeface="Arial" pitchFamily="34" charset="0"/>
                <a:ea typeface="Arial" pitchFamily="34" charset="-122"/>
                <a:cs typeface="Arial" pitchFamily="34" charset="-120"/>
              </a:rPr>
              <a:t>STATUS &amp; MITIGATION STRATEGY</a:t>
            </a:r>
            <a:endParaRPr lang="en-US" sz="1200" dirty="0"/>
          </a:p>
        </p:txBody>
      </p:sp>
      <p:sp>
        <p:nvSpPr>
          <p:cNvPr id="8" name="Text 6"/>
          <p:cNvSpPr/>
          <p:nvPr/>
        </p:nvSpPr>
        <p:spPr>
          <a:xfrm>
            <a:off x="6309360" y="2011680"/>
            <a:ext cx="5120640" cy="4114800"/>
          </a:xfrm>
          <a:prstGeom prst="rect">
            <a:avLst/>
          </a:prstGeom>
          <a:solidFill>
            <a:srgbClr val="FFFFFF"/>
          </a:solidFill>
          <a:ln w="12700">
            <a:solidFill>
              <a:srgbClr val="E2E8F0"/>
            </a:solidFill>
          </a:ln>
        </p:spPr>
        <p:txBody>
          <a:bodyPr wrap="square" lIns="228600" tIns="228600" rIns="228600" bIns="228600" rtlCol="0" anchor="t"/>
          <a:lstStyle/>
          <a:p>
            <a:pPr indent="0" marL="0">
              <a:buNone/>
            </a:pPr>
            <a:r>
              <a:rPr lang="en-US" sz="1600" b="1" dirty="0">
                <a:solidFill>
                  <a:srgbClr val="0F172A"/>
                </a:solidFill>
                <a:latin typeface="Arial" pitchFamily="34" charset="0"/>
                <a:ea typeface="Arial" pitchFamily="34" charset="-122"/>
                <a:cs typeface="Arial" pitchFamily="34" charset="-120"/>
              </a:rPr>
              <a:t>Current Status: 86% Complete (In-Testing)
</a:t>
            </a:r>
            <a:pPr indent="0" marL="0">
              <a:buNone/>
            </a:pPr>
            <a:r>
              <a:rPr lang="en-US" sz="1600" b="1" dirty="0">
                <a:solidFill>
                  <a:srgbClr val="0D9488"/>
                </a:solidFill>
                <a:latin typeface="Arial" pitchFamily="34" charset="0"/>
                <a:ea typeface="Arial" pitchFamily="34" charset="-122"/>
                <a:cs typeface="Arial" pitchFamily="34" charset="-120"/>
              </a:rPr>
              <a:t>• What has been completed: </a:t>
            </a:r>
            <a:pPr indent="0" marL="0">
              <a:buNone/>
            </a:pPr>
            <a:r>
              <a:rPr lang="en-US" sz="1300" dirty="0">
                <a:solidFill>
                  <a:srgbClr val="334155"/>
                </a:solidFill>
                <a:latin typeface="Arial" pitchFamily="34" charset="0"/>
                <a:ea typeface="Arial" pitchFamily="34" charset="-122"/>
                <a:cs typeface="Arial" pitchFamily="34" charset="-120"/>
              </a:rPr>
              <a:t>The controller validation logic, database structures, and dynamic rendering scripts are fully coded.
</a:t>
            </a:r>
            <a:pPr indent="0" marL="0">
              <a:buNone/>
            </a:pPr>
            <a:r>
              <a:rPr lang="en-US" sz="1600" b="1" dirty="0">
                <a:solidFill>
                  <a:srgbClr val="0D9488"/>
                </a:solidFill>
                <a:latin typeface="Arial" pitchFamily="34" charset="0"/>
                <a:ea typeface="Arial" pitchFamily="34" charset="-122"/>
                <a:cs typeface="Arial" pitchFamily="34" charset="-120"/>
              </a:rPr>
              <a:t>• Why it requires schedule buffer: </a:t>
            </a:r>
            <a:pPr indent="0" marL="0">
              <a:buNone/>
            </a:pPr>
            <a:r>
              <a:rPr lang="en-US" sz="1300" dirty="0">
                <a:solidFill>
                  <a:srgbClr val="334155"/>
                </a:solidFill>
                <a:latin typeface="Arial" pitchFamily="34" charset="0"/>
                <a:ea typeface="Arial" pitchFamily="34" charset="-122"/>
                <a:cs typeface="Arial" pitchFamily="34" charset="-120"/>
              </a:rPr>
              <a:t>Verification requires logging into the application with separate test accounts representing all access levels: Superadmin, Admin ( scoped ), Encoder, Viewer, and specific department scopes. We must ensure no privilege leaks occur when editing services.
</a:t>
            </a:r>
            <a:pPr indent="0" marL="0">
              <a:buNone/>
            </a:pPr>
            <a:r>
              <a:rPr lang="en-US" sz="1600" b="1" dirty="0">
                <a:solidFill>
                  <a:srgbClr val="0D9488"/>
                </a:solidFill>
                <a:latin typeface="Arial" pitchFamily="34" charset="0"/>
                <a:ea typeface="Arial" pitchFamily="34" charset="-122"/>
                <a:cs typeface="Arial" pitchFamily="34" charset="-120"/>
              </a:rPr>
              <a:t>• Mitigation: </a:t>
            </a:r>
            <a:pPr indent="0" marL="0">
              <a:buNone/>
            </a:pPr>
            <a:r>
              <a:rPr lang="en-US" sz="1300" dirty="0">
                <a:solidFill>
                  <a:srgbClr val="334155"/>
                </a:solidFill>
                <a:latin typeface="Arial" pitchFamily="34" charset="0"/>
                <a:ea typeface="Arial" pitchFamily="34" charset="-122"/>
                <a:cs typeface="Arial" pitchFamily="34" charset="-120"/>
              </a:rPr>
              <a:t>Creating a checklist matrix of routes vs roles to systematic audit code responses.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57200"/>
            <a:ext cx="10725912" cy="274320"/>
          </a:xfrm>
          <a:prstGeom prst="rect">
            <a:avLst/>
          </a:prstGeom>
          <a:noFill/>
          <a:ln/>
        </p:spPr>
        <p:txBody>
          <a:bodyPr wrap="square" rtlCol="0" anchor="ctr"/>
          <a:lstStyle/>
          <a:p>
            <a:pPr indent="0" marL="0">
              <a:buNone/>
            </a:pPr>
            <a:r>
              <a:rPr lang="en-US" sz="1000" b="1" dirty="0">
                <a:solidFill>
                  <a:srgbClr val="0D9488"/>
                </a:solidFill>
                <a:latin typeface="Arial" pitchFamily="34" charset="0"/>
                <a:ea typeface="Arial" pitchFamily="34" charset="-122"/>
                <a:cs typeface="Arial" pitchFamily="34" charset="-120"/>
              </a:rPr>
              <a:t>05 / FUTURE ROADMAP</a:t>
            </a:r>
            <a:endParaRPr lang="en-US" sz="1000" dirty="0"/>
          </a:p>
        </p:txBody>
      </p:sp>
      <p:sp>
        <p:nvSpPr>
          <p:cNvPr id="3" name="Text 1"/>
          <p:cNvSpPr/>
          <p:nvPr/>
        </p:nvSpPr>
        <p:spPr>
          <a:xfrm>
            <a:off x="731520" y="731520"/>
            <a:ext cx="10725912" cy="548640"/>
          </a:xfrm>
          <a:prstGeom prst="rect">
            <a:avLst/>
          </a:prstGeom>
          <a:noFill/>
          <a:ln/>
        </p:spPr>
        <p:txBody>
          <a:bodyPr wrap="square"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Project Completion Strategy</a:t>
            </a:r>
            <a:endParaRPr lang="en-US" sz="2600" dirty="0"/>
          </a:p>
        </p:txBody>
      </p:sp>
      <p:sp>
        <p:nvSpPr>
          <p:cNvPr id="4" name="Shape 2"/>
          <p:cNvSpPr/>
          <p:nvPr/>
        </p:nvSpPr>
        <p:spPr>
          <a:xfrm>
            <a:off x="731520" y="1325880"/>
            <a:ext cx="10725912" cy="18288"/>
          </a:xfrm>
          <a:prstGeom prst="rect">
            <a:avLst/>
          </a:prstGeom>
          <a:solidFill>
            <a:srgbClr val="0D9488"/>
          </a:solidFill>
          <a:ln/>
        </p:spPr>
      </p:sp>
      <p:sp>
        <p:nvSpPr>
          <p:cNvPr id="5" name="Text 3"/>
          <p:cNvSpPr/>
          <p:nvPr/>
        </p:nvSpPr>
        <p:spPr>
          <a:xfrm>
            <a:off x="731520" y="1645920"/>
            <a:ext cx="10725912" cy="274320"/>
          </a:xfrm>
          <a:prstGeom prst="rect">
            <a:avLst/>
          </a:prstGeom>
          <a:noFill/>
          <a:ln/>
        </p:spPr>
        <p:txBody>
          <a:bodyPr wrap="square" rtlCol="0" anchor="ctr"/>
          <a:lstStyle/>
          <a:p>
            <a:pPr indent="0" marL="0">
              <a:buNone/>
            </a:pPr>
            <a:r>
              <a:rPr lang="en-US" sz="1400" dirty="0">
                <a:solidFill>
                  <a:srgbClr val="334155"/>
                </a:solidFill>
                <a:latin typeface="Arial" pitchFamily="34" charset="0"/>
                <a:ea typeface="Arial" pitchFamily="34" charset="-122"/>
                <a:cs typeface="Arial" pitchFamily="34" charset="-120"/>
              </a:rPr>
              <a:t>Roadmap to 100% completion before the final evaluation:</a:t>
            </a:r>
            <a:endParaRPr lang="en-US" sz="1400" dirty="0"/>
          </a:p>
        </p:txBody>
      </p:sp>
      <p:sp>
        <p:nvSpPr>
          <p:cNvPr id="6" name="Text 4"/>
          <p:cNvSpPr/>
          <p:nvPr/>
        </p:nvSpPr>
        <p:spPr>
          <a:xfrm>
            <a:off x="731520" y="2103120"/>
            <a:ext cx="2468880" cy="4023360"/>
          </a:xfrm>
          <a:prstGeom prst="rect">
            <a:avLst/>
          </a:prstGeom>
          <a:solidFill>
            <a:srgbClr val="FFFFFF"/>
          </a:solidFill>
          <a:ln w="12700">
            <a:solidFill>
              <a:srgbClr val="E2E8F0"/>
            </a:solidFill>
          </a:ln>
        </p:spPr>
        <p:txBody>
          <a:bodyPr wrap="square" lIns="190500" tIns="190500" rIns="190500" bIns="190500" rtlCol="0" anchor="t"/>
          <a:lstStyle/>
          <a:p>
            <a:pPr indent="0" marL="0">
              <a:buNone/>
            </a:pPr>
            <a:r>
              <a:rPr lang="en-US" sz="1100" b="1" dirty="0">
                <a:solidFill>
                  <a:srgbClr val="0D9488"/>
                </a:solidFill>
                <a:latin typeface="Arial" pitchFamily="34" charset="0"/>
                <a:ea typeface="Arial" pitchFamily="34" charset="-122"/>
                <a:cs typeface="Arial" pitchFamily="34" charset="-120"/>
              </a:rPr>
              <a:t>PHASE 1
</a:t>
            </a:r>
            <a:pPr indent="0" marL="0">
              <a:buNone/>
            </a:pPr>
            <a:r>
              <a:rPr lang="en-US" sz="1500" b="1" dirty="0">
                <a:solidFill>
                  <a:srgbClr val="0F172A"/>
                </a:solidFill>
                <a:latin typeface="Arial" pitchFamily="34" charset="0"/>
                <a:ea typeface="Arial" pitchFamily="34" charset="-122"/>
                <a:cs typeface="Arial" pitchFamily="34" charset="-120"/>
              </a:rPr>
              <a:t>Scope Security Audit
</a:t>
            </a:r>
            <a:pPr indent="0" marL="0">
              <a:buNone/>
            </a:pPr>
            <a:r>
              <a:rPr lang="en-US" sz="1200" dirty="0">
                <a:solidFill>
                  <a:srgbClr val="334155"/>
                </a:solidFill>
                <a:latin typeface="Arial" pitchFamily="34" charset="0"/>
                <a:ea typeface="Arial" pitchFamily="34" charset="-122"/>
                <a:cs typeface="Arial" pitchFamily="34" charset="-120"/>
              </a:rPr>
              <a:t>Perform comprehensive session validation audits. Test route protection headers in the Admin controller.</a:t>
            </a:r>
            <a:endParaRPr lang="en-US" sz="1100" dirty="0"/>
          </a:p>
        </p:txBody>
      </p:sp>
      <p:sp>
        <p:nvSpPr>
          <p:cNvPr id="7" name="Text 5"/>
          <p:cNvSpPr/>
          <p:nvPr/>
        </p:nvSpPr>
        <p:spPr>
          <a:xfrm>
            <a:off x="3474720" y="2103120"/>
            <a:ext cx="2468880" cy="4023360"/>
          </a:xfrm>
          <a:prstGeom prst="rect">
            <a:avLst/>
          </a:prstGeom>
          <a:solidFill>
            <a:srgbClr val="FFFFFF"/>
          </a:solidFill>
          <a:ln w="12700">
            <a:solidFill>
              <a:srgbClr val="E2E8F0"/>
            </a:solidFill>
          </a:ln>
        </p:spPr>
        <p:txBody>
          <a:bodyPr wrap="square" lIns="190500" tIns="190500" rIns="190500" bIns="190500" rtlCol="0" anchor="t"/>
          <a:lstStyle/>
          <a:p>
            <a:pPr indent="0" marL="0">
              <a:buNone/>
            </a:pPr>
            <a:r>
              <a:rPr lang="en-US" sz="1100" b="1" dirty="0">
                <a:solidFill>
                  <a:srgbClr val="0D9488"/>
                </a:solidFill>
                <a:latin typeface="Arial" pitchFamily="34" charset="0"/>
                <a:ea typeface="Arial" pitchFamily="34" charset="-122"/>
                <a:cs typeface="Arial" pitchFamily="34" charset="-120"/>
              </a:rPr>
              <a:t>PHASE 2
</a:t>
            </a:r>
            <a:pPr indent="0" marL="0">
              <a:buNone/>
            </a:pPr>
            <a:r>
              <a:rPr lang="en-US" sz="1500" b="1" dirty="0">
                <a:solidFill>
                  <a:srgbClr val="0F172A"/>
                </a:solidFill>
                <a:latin typeface="Arial" pitchFamily="34" charset="0"/>
                <a:ea typeface="Arial" pitchFamily="34" charset="-122"/>
                <a:cs typeface="Arial" pitchFamily="34" charset="-120"/>
              </a:rPr>
              <a:t>Role Integration
</a:t>
            </a:r>
            <a:pPr indent="0" marL="0">
              <a:buNone/>
            </a:pPr>
            <a:r>
              <a:rPr lang="en-US" sz="1200" dirty="0">
                <a:solidFill>
                  <a:srgbClr val="334155"/>
                </a:solidFill>
                <a:latin typeface="Arial" pitchFamily="34" charset="0"/>
                <a:ea typeface="Arial" pitchFamily="34" charset="-122"/>
                <a:cs typeface="Arial" pitchFamily="34" charset="-120"/>
              </a:rPr>
              <a:t>Finalize interface logic for the Encoder role (write-only scopes) and Viewer role (readonly dashboard view) systems.</a:t>
            </a:r>
            <a:endParaRPr lang="en-US" sz="1100" dirty="0"/>
          </a:p>
        </p:txBody>
      </p:sp>
      <p:sp>
        <p:nvSpPr>
          <p:cNvPr id="8" name="Text 6"/>
          <p:cNvSpPr/>
          <p:nvPr/>
        </p:nvSpPr>
        <p:spPr>
          <a:xfrm>
            <a:off x="6217920" y="2103120"/>
            <a:ext cx="2468880" cy="4023360"/>
          </a:xfrm>
          <a:prstGeom prst="rect">
            <a:avLst/>
          </a:prstGeom>
          <a:solidFill>
            <a:srgbClr val="FFFFFF"/>
          </a:solidFill>
          <a:ln w="12700">
            <a:solidFill>
              <a:srgbClr val="E2E8F0"/>
            </a:solidFill>
          </a:ln>
        </p:spPr>
        <p:txBody>
          <a:bodyPr wrap="square" lIns="190500" tIns="190500" rIns="190500" bIns="190500" rtlCol="0" anchor="t"/>
          <a:lstStyle/>
          <a:p>
            <a:pPr indent="0" marL="0">
              <a:buNone/>
            </a:pPr>
            <a:r>
              <a:rPr lang="en-US" sz="1100" b="1" dirty="0">
                <a:solidFill>
                  <a:srgbClr val="0D9488"/>
                </a:solidFill>
                <a:latin typeface="Arial" pitchFamily="34" charset="0"/>
                <a:ea typeface="Arial" pitchFamily="34" charset="-122"/>
                <a:cs typeface="Arial" pitchFamily="34" charset="-120"/>
              </a:rPr>
              <a:t>PHASE 3
</a:t>
            </a:r>
            <a:pPr indent="0" marL="0">
              <a:buNone/>
            </a:pPr>
            <a:r>
              <a:rPr lang="en-US" sz="1500" b="1" dirty="0">
                <a:solidFill>
                  <a:srgbClr val="0F172A"/>
                </a:solidFill>
                <a:latin typeface="Arial" pitchFamily="34" charset="0"/>
                <a:ea typeface="Arial" pitchFamily="34" charset="-122"/>
                <a:cs typeface="Arial" pitchFamily="34" charset="-120"/>
              </a:rPr>
              <a:t>Staging &amp; Dry Run
</a:t>
            </a:r>
            <a:pPr indent="0" marL="0">
              <a:buNone/>
            </a:pPr>
            <a:r>
              <a:rPr lang="en-US" sz="1200" dirty="0">
                <a:solidFill>
                  <a:srgbClr val="334155"/>
                </a:solidFill>
                <a:latin typeface="Arial" pitchFamily="34" charset="0"/>
                <a:ea typeface="Arial" pitchFamily="34" charset="-122"/>
                <a:cs typeface="Arial" pitchFamily="34" charset="-120"/>
              </a:rPr>
              <a:t>Migrate changes to the staging environment, seed the updated database fields, and run the system offline to verify localized assets.</a:t>
            </a:r>
            <a:endParaRPr lang="en-US" sz="1100" dirty="0"/>
          </a:p>
        </p:txBody>
      </p:sp>
      <p:sp>
        <p:nvSpPr>
          <p:cNvPr id="9" name="Text 7"/>
          <p:cNvSpPr/>
          <p:nvPr/>
        </p:nvSpPr>
        <p:spPr>
          <a:xfrm>
            <a:off x="8961120" y="2103120"/>
            <a:ext cx="2468880" cy="4023360"/>
          </a:xfrm>
          <a:prstGeom prst="rect">
            <a:avLst/>
          </a:prstGeom>
          <a:solidFill>
            <a:srgbClr val="FFFFFF"/>
          </a:solidFill>
          <a:ln w="12700">
            <a:solidFill>
              <a:srgbClr val="E2E8F0"/>
            </a:solidFill>
          </a:ln>
        </p:spPr>
        <p:txBody>
          <a:bodyPr wrap="square" lIns="190500" tIns="190500" rIns="190500" bIns="190500" rtlCol="0" anchor="t"/>
          <a:lstStyle/>
          <a:p>
            <a:pPr indent="0" marL="0">
              <a:buNone/>
            </a:pPr>
            <a:r>
              <a:rPr lang="en-US" sz="1100" b="1" dirty="0">
                <a:solidFill>
                  <a:srgbClr val="0D9488"/>
                </a:solidFill>
                <a:latin typeface="Arial" pitchFamily="34" charset="0"/>
                <a:ea typeface="Arial" pitchFamily="34" charset="-122"/>
                <a:cs typeface="Arial" pitchFamily="34" charset="-120"/>
              </a:rPr>
              <a:t>PHASE 4
</a:t>
            </a:r>
            <a:pPr indent="0" marL="0">
              <a:buNone/>
            </a:pPr>
            <a:r>
              <a:rPr lang="en-US" sz="1500" b="1" dirty="0">
                <a:solidFill>
                  <a:srgbClr val="0F172A"/>
                </a:solidFill>
                <a:latin typeface="Arial" pitchFamily="34" charset="0"/>
                <a:ea typeface="Arial" pitchFamily="34" charset="-122"/>
                <a:cs typeface="Arial" pitchFamily="34" charset="-120"/>
              </a:rPr>
              <a:t>Documentation &amp; Hand-off
</a:t>
            </a:r>
            <a:pPr indent="0" marL="0">
              <a:buNone/>
            </a:pPr>
            <a:r>
              <a:rPr lang="en-US" sz="1200" dirty="0">
                <a:solidFill>
                  <a:srgbClr val="334155"/>
                </a:solidFill>
                <a:latin typeface="Arial" pitchFamily="34" charset="0"/>
                <a:ea typeface="Arial" pitchFamily="34" charset="-122"/>
                <a:cs typeface="Arial" pitchFamily="34" charset="-120"/>
              </a:rPr>
              <a:t>Compile the final patch logs, update database migration scripts, and present the completion deliverables to the supervisor.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2026-06-25T12:15:32Z</dcterms:created>
  <dcterms:modified xsi:type="dcterms:W3CDTF">2026-06-25T12:15:32Z</dcterms:modified>
</cp:coreProperties>
</file>